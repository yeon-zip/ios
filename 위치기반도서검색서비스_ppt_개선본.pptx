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Noto Sans KR" panose="020B020000000000000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4"/>
  </p:normalViewPr>
  <p:slideViewPr>
    <p:cSldViewPr snapToGrid="0">
      <p:cViewPr>
        <p:scale>
          <a:sx n="130" d="100"/>
          <a:sy n="130" d="100"/>
        </p:scale>
        <p:origin x="864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30ba6049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930ba6049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930ba60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e930ba60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930ba604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e930ba604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Rounded Rectangle 84"/>
          <p:cNvSpPr/>
          <p:nvPr/>
        </p:nvSpPr>
        <p:spPr>
          <a:xfrm>
            <a:off x="4343400" y="1417320"/>
            <a:ext cx="196596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WEB / iOS 통합 서비스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44752" y="1920240"/>
            <a:ext cx="9326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0D1426"/>
                </a:solidFill>
                <a:latin typeface="Apple SD Gothic Neo"/>
              </a:rPr>
              <a:t>위치 기반 공공도서관</a:t>
            </a:r>
          </a:p>
          <a:p>
            <a:pPr algn="ctr"/>
            <a:r>
              <a:rPr sz="3800" b="1">
                <a:solidFill>
                  <a:srgbClr val="0D1426"/>
                </a:solidFill>
                <a:latin typeface="Apple SD Gothic Neo"/>
              </a:rPr>
              <a:t>소장 도서 검색 서비스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30368" y="3310128"/>
            <a:ext cx="1737360" cy="27432"/>
          </a:xfrm>
          <a:prstGeom prst="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28800" y="3767328"/>
            <a:ext cx="8549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344054"/>
                </a:solidFill>
                <a:latin typeface="Apple SD Gothic Neo"/>
              </a:rPr>
              <a:t>내 주변에서 지금 빌릴 수 있는 책을 빠르게 찾는 통합 탐색 경험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0" y="4187952"/>
            <a:ext cx="8549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Apple SD Gothic Neo"/>
              </a:rPr>
              <a:t>OpenAPI 기반 도서·도서관 정보 연동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00" y="2151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9737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3600" y="2348750"/>
            <a:ext cx="5464549" cy="30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Rectangle 105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문제 배경: 독서 수요는 늘었지만 탐색 경험은 그대로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3232" y="1536192"/>
            <a:ext cx="141732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독서 문화 변화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232" y="1901952"/>
            <a:ext cx="45720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D1426"/>
                </a:solidFill>
                <a:latin typeface="Apple SD Gothic Neo"/>
              </a:rPr>
              <a:t>20대 독서율 반등과</a:t>
            </a:r>
          </a:p>
          <a:p>
            <a:pPr algn="l"/>
            <a:r>
              <a:rPr sz="2400" b="1">
                <a:solidFill>
                  <a:srgbClr val="0D1426"/>
                </a:solidFill>
                <a:latin typeface="Apple SD Gothic Neo"/>
              </a:rPr>
              <a:t>도서 탐색 방식의 변화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2852928"/>
            <a:ext cx="452628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SNS를 중심으로 독서를 취향과 라이프스타일로 소비하는 흐름이 커졌지만, 공공도서관 탐색은 여전히 개별 사이트 검색에 머물러 있습니다.</a:t>
            </a:r>
          </a:p>
        </p:txBody>
      </p:sp>
      <p:sp>
        <p:nvSpPr>
          <p:cNvPr id="111" name="Oval 110"/>
          <p:cNvSpPr/>
          <p:nvPr/>
        </p:nvSpPr>
        <p:spPr>
          <a:xfrm>
            <a:off x="749808" y="38404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1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청년층의 도서 접근성과 대출 편의 요구 증가</a:t>
            </a:r>
          </a:p>
        </p:txBody>
      </p:sp>
      <p:sp>
        <p:nvSpPr>
          <p:cNvPr id="113" name="Oval 112"/>
          <p:cNvSpPr/>
          <p:nvPr/>
        </p:nvSpPr>
        <p:spPr>
          <a:xfrm>
            <a:off x="749808" y="4279392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78992" y="4261104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모바일 환경에 맞는 빠른 검색·저장 경험 필요</a:t>
            </a:r>
          </a:p>
        </p:txBody>
      </p:sp>
      <p:sp>
        <p:nvSpPr>
          <p:cNvPr id="115" name="Oval 114"/>
          <p:cNvSpPr/>
          <p:nvPr/>
        </p:nvSpPr>
        <p:spPr>
          <a:xfrm>
            <a:off x="749808" y="471830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" y="4700016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도서관 방문 전 대출 가능성 판단이 중요해짐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19225"/>
            <a:ext cx="12192000" cy="5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ectangle 111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연령대별 종합 독서율 현황 (2025)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9808" y="5193792"/>
            <a:ext cx="8686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ple SD Gothic Neo"/>
              </a:rPr>
              <a:t>출처: 문화체육관광부 2025 국민 독서실태 조사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909560" y="1042415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56448" y="120700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5849D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56448" y="1536192"/>
            <a:ext cx="2514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44054"/>
                </a:solidFill>
                <a:latin typeface="Apple SD Gothic Neo"/>
              </a:rPr>
              <a:t>독서 수요가 회복되는 흐름에서, 도서 접근 경험을 디지털 서비스로 개선할 여지가 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4547" y="2964422"/>
            <a:ext cx="4081575" cy="33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699" y="3009675"/>
            <a:ext cx="4446550" cy="33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ectangle 125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기존 방식 1: 개별 도서관을 반복해서 확인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13232" y="1389888"/>
            <a:ext cx="96012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2410C"/>
                </a:solidFill>
                <a:latin typeface="Apple SD Gothic Neo"/>
              </a:rPr>
              <a:t>방법 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1810512"/>
            <a:ext cx="443484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같은 책을 찾기 위해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도서관별 홈페이지를 따로 검색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1520" y="2706624"/>
            <a:ext cx="4343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도서명 검색, 소장 여부 확인, 대출 상태 확인을 도서관마다 반복해야 해서 사용자의 탐색 비용이 커집니다.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9808" y="4498848"/>
            <a:ext cx="109728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2959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도서관 선택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74519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020824" y="4498848"/>
            <a:ext cx="109728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093976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도서 검색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145536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291839" y="4498848"/>
            <a:ext cx="109728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64991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소장 확인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16552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562856" y="4498848"/>
            <a:ext cx="109728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36008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대출 상태 확인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303520" y="4526280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5849D"/>
                </a:solidFill>
                <a:latin typeface="Apple SD Gothic Neo"/>
              </a:rPr>
              <a:t>반복 검색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483" y="1732300"/>
            <a:ext cx="4076095" cy="467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25" y="2769851"/>
            <a:ext cx="5075199" cy="1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Rectangle 137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기존 방식 2: 중앙 검색만으로는 방문 판단이 어려움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13232" y="1389888"/>
            <a:ext cx="96012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2410C"/>
                </a:solidFill>
                <a:latin typeface="Apple SD Gothic Neo"/>
              </a:rPr>
              <a:t>방법 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3232" y="1810512"/>
            <a:ext cx="443484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소장기관 정보는 있어도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거리·운영·대출 가능성은 분리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1520" y="2706624"/>
            <a:ext cx="4343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중앙 검색은 서지 정보 확인에는 유용하지만, 실제로 어느 도서관에 가야 하는지 결정하는 정보가 부족합니다.</a:t>
            </a:r>
          </a:p>
        </p:txBody>
      </p:sp>
      <p:sp>
        <p:nvSpPr>
          <p:cNvPr id="143" name="Oval 142"/>
          <p:cNvSpPr/>
          <p:nvPr/>
        </p:nvSpPr>
        <p:spPr>
          <a:xfrm>
            <a:off x="749808" y="38404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8992" y="3822191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내 위치 기준 거리 정렬 부재</a:t>
            </a:r>
          </a:p>
        </p:txBody>
      </p:sp>
      <p:sp>
        <p:nvSpPr>
          <p:cNvPr id="145" name="Oval 144"/>
          <p:cNvSpPr/>
          <p:nvPr/>
        </p:nvSpPr>
        <p:spPr>
          <a:xfrm>
            <a:off x="749808" y="425195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8992" y="423367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운영 시간·휴관일 확인 흐름 분리</a:t>
            </a:r>
          </a:p>
        </p:txBody>
      </p:sp>
      <p:sp>
        <p:nvSpPr>
          <p:cNvPr id="147" name="Oval 146"/>
          <p:cNvSpPr/>
          <p:nvPr/>
        </p:nvSpPr>
        <p:spPr>
          <a:xfrm>
            <a:off x="749808" y="466344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8992" y="464515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대출 가능 여부를 빠르게 비교하기 어려움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85232" y="3566160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5849D"/>
                </a:solidFill>
                <a:latin typeface="Apple SD Gothic Neo"/>
              </a:rPr>
              <a:t>비교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75875"/>
            <a:ext cx="5048250" cy="22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5450" y="2275875"/>
            <a:ext cx="5048250" cy="22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Rectangle 150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문제 정의: 책 한 권을 빌리기까지 정보가 흩어져 있음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77240" y="141732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78992" y="1719072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사용자가 겪는 불편</a:t>
            </a:r>
          </a:p>
        </p:txBody>
      </p:sp>
      <p:sp>
        <p:nvSpPr>
          <p:cNvPr id="155" name="Oval 154"/>
          <p:cNvSpPr/>
          <p:nvPr/>
        </p:nvSpPr>
        <p:spPr>
          <a:xfrm>
            <a:off x="1060704" y="228600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89888" y="2267712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동일 도서를 여러 도서관에서 반복 검색</a:t>
            </a:r>
          </a:p>
        </p:txBody>
      </p:sp>
      <p:sp>
        <p:nvSpPr>
          <p:cNvPr id="157" name="Oval 156"/>
          <p:cNvSpPr/>
          <p:nvPr/>
        </p:nvSpPr>
        <p:spPr>
          <a:xfrm>
            <a:off x="1060704" y="2706624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89888" y="2688336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소장 여부와 대출 상태를 한 번에 비교하기 어려움</a:t>
            </a:r>
          </a:p>
        </p:txBody>
      </p:sp>
      <p:sp>
        <p:nvSpPr>
          <p:cNvPr id="159" name="Oval 158"/>
          <p:cNvSpPr/>
          <p:nvPr/>
        </p:nvSpPr>
        <p:spPr>
          <a:xfrm>
            <a:off x="1060704" y="312724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89888" y="3108960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거리·운영 상태·휴관 정보를 별도로 확인해야 함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492240" y="1417320"/>
            <a:ext cx="4480560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84848" y="1719072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서비스가 해결할 지점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84848" y="2304288"/>
            <a:ext cx="3886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검색 결과를 사용자의 위치와 대출 가능 상태까지 연결해, 실제 방문 가능한 도서관을 빠르게 좁혀줍니다.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84848" y="3337560"/>
            <a:ext cx="3840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5849D"/>
                </a:solidFill>
                <a:latin typeface="Apple SD Gothic Neo"/>
              </a:rPr>
              <a:t>검색 비용 감소 + 대출 성공 가능성 향상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407408" y="4800600"/>
            <a:ext cx="3383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D1426"/>
                </a:solidFill>
                <a:latin typeface="Apple SD Gothic Neo"/>
              </a:rPr>
              <a:t>핵심 문제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94560" y="5266944"/>
            <a:ext cx="795527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344054"/>
                </a:solidFill>
                <a:latin typeface="Apple SD Gothic Neo"/>
              </a:rPr>
              <a:t>“어디에 있고, 지금 빌릴 수 있는지”를 한 화면에서 판단하기 어렵다.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300" y="1896387"/>
            <a:ext cx="50482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4400" y="1896387"/>
            <a:ext cx="50482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Rectangle 167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제안 서비스: 위치·도서·대출 정보를 하나의 흐름으로 연결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4672" y="1417320"/>
            <a:ext cx="4937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133856" y="1783080"/>
            <a:ext cx="4251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사용자 가치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43000" y="2240280"/>
            <a:ext cx="4133087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내 주변에서 빌릴 수 있는 책을 찾는 과정을 하나의 서비스 흐름으로 단축합니다.</a:t>
            </a:r>
          </a:p>
        </p:txBody>
      </p:sp>
      <p:sp>
        <p:nvSpPr>
          <p:cNvPr id="173" name="Oval 172"/>
          <p:cNvSpPr/>
          <p:nvPr/>
        </p:nvSpPr>
        <p:spPr>
          <a:xfrm>
            <a:off x="1143000" y="301752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2184" y="2999232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위치 또는 주소 기준 주변 도서관 자동 정렬</a:t>
            </a:r>
          </a:p>
        </p:txBody>
      </p:sp>
      <p:sp>
        <p:nvSpPr>
          <p:cNvPr id="175" name="Oval 174"/>
          <p:cNvSpPr/>
          <p:nvPr/>
        </p:nvSpPr>
        <p:spPr>
          <a:xfrm>
            <a:off x="1143000" y="344728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2184" y="3429000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도서 검색 결과와 소장 도서관 리스트 연동</a:t>
            </a:r>
          </a:p>
        </p:txBody>
      </p:sp>
      <p:sp>
        <p:nvSpPr>
          <p:cNvPr id="177" name="Oval 176"/>
          <p:cNvSpPr/>
          <p:nvPr/>
        </p:nvSpPr>
        <p:spPr>
          <a:xfrm>
            <a:off x="1143000" y="3877055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472184" y="3858768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상세 정보, 찜, 알림, 추천까지 연결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82512" y="1417320"/>
            <a:ext cx="4617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711696" y="1783080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데이터 연동 구조</a:t>
            </a:r>
          </a:p>
        </p:txBody>
      </p:sp>
      <p:sp>
        <p:nvSpPr>
          <p:cNvPr id="181" name="Oval 180"/>
          <p:cNvSpPr/>
          <p:nvPr/>
        </p:nvSpPr>
        <p:spPr>
          <a:xfrm>
            <a:off x="6702552" y="235000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031736" y="2331720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도서 검색·서지 정보: 도서/목록 OpenAPI</a:t>
            </a:r>
          </a:p>
        </p:txBody>
      </p:sp>
      <p:sp>
        <p:nvSpPr>
          <p:cNvPr id="183" name="Oval 182"/>
          <p:cNvSpPr/>
          <p:nvPr/>
        </p:nvSpPr>
        <p:spPr>
          <a:xfrm>
            <a:off x="6702552" y="2752344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031736" y="2734056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소장·대출 상태: 도서관 정보나루 기반 데이터</a:t>
            </a:r>
          </a:p>
        </p:txBody>
      </p:sp>
      <p:sp>
        <p:nvSpPr>
          <p:cNvPr id="185" name="Oval 184"/>
          <p:cNvSpPr/>
          <p:nvPr/>
        </p:nvSpPr>
        <p:spPr>
          <a:xfrm>
            <a:off x="6702552" y="31546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031736" y="3136391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위치·주소: 카카오 로컬 API 활용</a:t>
            </a:r>
          </a:p>
        </p:txBody>
      </p:sp>
      <p:sp>
        <p:nvSpPr>
          <p:cNvPr id="187" name="Oval 186"/>
          <p:cNvSpPr/>
          <p:nvPr/>
        </p:nvSpPr>
        <p:spPr>
          <a:xfrm>
            <a:off x="6702552" y="355701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31736" y="3538728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Web과 iOS가 동일 백엔드 API 사용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8288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9019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책 검색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273551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429000" y="5650992"/>
            <a:ext cx="141732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5021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ISBN 식별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737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1023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주변 도서관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739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629400" y="5650992"/>
            <a:ext cx="141732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7025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대출 상태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0741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2296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3027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찜/알림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9737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D1E1E3-E434-FAD0-4306-DB2210C223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b="-1"/>
          <a:stretch>
            <a:fillRect/>
          </a:stretch>
        </p:blipFill>
        <p:spPr>
          <a:xfrm>
            <a:off x="9163651" y="1588152"/>
            <a:ext cx="2784860" cy="5314767"/>
          </a:xfrm>
          <a:prstGeom prst="rect">
            <a:avLst/>
          </a:prstGeom>
        </p:spPr>
      </p:pic>
      <p:sp>
        <p:nvSpPr>
          <p:cNvPr id="179" name="Rectangle 17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1: 위치 기반 도서관 탐색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13232" y="1444752"/>
            <a:ext cx="141732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Location First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13232" y="1847088"/>
            <a:ext cx="457200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현재 위치 또는 지정 주소를 기준으로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가까운 도서관부터 확인합니다.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31520" y="2670048"/>
            <a:ext cx="44988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단순 도서관 목록이 아니라, 실제 방문 판단에 필요한 거리와 운영 상태를 함께 제공합니다.</a:t>
            </a:r>
          </a:p>
        </p:txBody>
      </p:sp>
      <p:sp>
        <p:nvSpPr>
          <p:cNvPr id="184" name="Oval 183"/>
          <p:cNvSpPr/>
          <p:nvPr/>
        </p:nvSpPr>
        <p:spPr>
          <a:xfrm>
            <a:off x="749808" y="3675887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78992" y="3657600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2km / 5km / 10km 탐색 반경 선택</a:t>
            </a:r>
          </a:p>
        </p:txBody>
      </p:sp>
      <p:sp>
        <p:nvSpPr>
          <p:cNvPr id="186" name="Oval 185"/>
          <p:cNvSpPr/>
          <p:nvPr/>
        </p:nvSpPr>
        <p:spPr>
          <a:xfrm>
            <a:off x="749808" y="411480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78992" y="409651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거리순 도서관 목록과 운영 상태 표시</a:t>
            </a:r>
          </a:p>
        </p:txBody>
      </p:sp>
      <p:sp>
        <p:nvSpPr>
          <p:cNvPr id="188" name="Oval 187"/>
          <p:cNvSpPr/>
          <p:nvPr/>
        </p:nvSpPr>
        <p:spPr>
          <a:xfrm>
            <a:off x="749808" y="4553712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78992" y="4535424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운영 종료 도서관 제외 필터 제공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166360" y="1508760"/>
            <a:ext cx="4069080" cy="29260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349240" y="2715768"/>
            <a:ext cx="3703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349240" y="2999232"/>
            <a:ext cx="3703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웹 UI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394960" y="3995927"/>
            <a:ext cx="3611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홈 또는 주변 도서관 목록 화면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235440" y="5833872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iOS 화면은 우측 배치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6;p17">
            <a:extLst>
              <a:ext uri="{FF2B5EF4-FFF2-40B4-BE49-F238E27FC236}">
                <a16:creationId xmlns:a16="http://schemas.microsoft.com/office/drawing/2014/main" id="{3F7CCB72-B845-7538-1C4F-0C059D130F2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044" y="1938962"/>
            <a:ext cx="2741713" cy="31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63DCDE-04BE-82BA-8D9D-BCD4AC0E7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926" y="931250"/>
            <a:ext cx="3964905" cy="25787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F5FBFE-73CB-7A69-AFDA-58695F4A3F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2993" y="3428999"/>
            <a:ext cx="1736210" cy="3313471"/>
          </a:xfrm>
          <a:prstGeom prst="rect">
            <a:avLst/>
          </a:prstGeom>
        </p:spPr>
      </p:pic>
      <p:sp>
        <p:nvSpPr>
          <p:cNvPr id="195" name="Rectangle 194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2: 대출 가능 도서관 통합 조회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13232" y="1417320"/>
            <a:ext cx="160020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Book Availability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3232" y="1810512"/>
            <a:ext cx="42062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검색한 책을 선택하면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보유 도서관을 거리순으로 비교합니다.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31520" y="265176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40" b="0">
                <a:solidFill>
                  <a:srgbClr val="344054"/>
                </a:solidFill>
                <a:latin typeface="Apple SD Gothic Neo"/>
              </a:rPr>
              <a:t>ISBN을 기준으로 동일 도서를 식별하고, 가까운 도서관 중 대출 가능한 곳을 빠르게 좁힐 수 있습니다.</a:t>
            </a:r>
          </a:p>
        </p:txBody>
      </p:sp>
      <p:sp>
        <p:nvSpPr>
          <p:cNvPr id="200" name="Oval 199"/>
          <p:cNvSpPr/>
          <p:nvPr/>
        </p:nvSpPr>
        <p:spPr>
          <a:xfrm>
            <a:off x="749808" y="3675887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78992" y="3657600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ISBN 기반 동일 도서 식별</a:t>
            </a:r>
          </a:p>
        </p:txBody>
      </p:sp>
      <p:sp>
        <p:nvSpPr>
          <p:cNvPr id="202" name="Oval 201"/>
          <p:cNvSpPr/>
          <p:nvPr/>
        </p:nvSpPr>
        <p:spPr>
          <a:xfrm>
            <a:off x="749808" y="4059935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78992" y="404164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소장 도서관 거리순 정렬</a:t>
            </a:r>
          </a:p>
        </p:txBody>
      </p:sp>
      <p:sp>
        <p:nvSpPr>
          <p:cNvPr id="204" name="Oval 203"/>
          <p:cNvSpPr/>
          <p:nvPr/>
        </p:nvSpPr>
        <p:spPr>
          <a:xfrm>
            <a:off x="749808" y="444398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78992" y="4425696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대출 가능 도서관 필터링</a:t>
            </a:r>
          </a:p>
        </p:txBody>
      </p:sp>
      <p:sp>
        <p:nvSpPr>
          <p:cNvPr id="206" name="Oval 205"/>
          <p:cNvSpPr/>
          <p:nvPr/>
        </p:nvSpPr>
        <p:spPr>
          <a:xfrm>
            <a:off x="749808" y="4828031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78992" y="4809744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도서 상세 정보와 바로 연결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675120" y="5650992"/>
            <a:ext cx="37490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25849D"/>
                </a:solidFill>
                <a:latin typeface="Apple SD Gothic Neo"/>
              </a:rPr>
              <a:t>웹과 iOS 모두 동일한 검색 흐름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A3C258-F81A-E50F-CB69-56137DEA8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520" y="2069690"/>
            <a:ext cx="2509004" cy="4788310"/>
          </a:xfrm>
          <a:prstGeom prst="rect">
            <a:avLst/>
          </a:prstGeom>
        </p:spPr>
      </p:pic>
      <p:sp>
        <p:nvSpPr>
          <p:cNvPr id="212" name="Rectangle 211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3: 대출 상태 변화 알림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13232" y="1353312"/>
            <a:ext cx="1261872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Notification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13232" y="1737360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관심 있는 대출 중 도서를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따로 추적하고 상태 변화를 확인합니다.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31520" y="2578608"/>
            <a:ext cx="45262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알림 신청 도서의 갱신된 대출 가능 정보를 반영해, 사용자가 같은 검색을 반복하지 않도록 돕습니다.</a:t>
            </a:r>
          </a:p>
        </p:txBody>
      </p:sp>
      <p:sp>
        <p:nvSpPr>
          <p:cNvPr id="217" name="Oval 216"/>
          <p:cNvSpPr/>
          <p:nvPr/>
        </p:nvSpPr>
        <p:spPr>
          <a:xfrm>
            <a:off x="749808" y="358444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78992" y="3566160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대출 불가 도서관에 알림 신청</a:t>
            </a:r>
          </a:p>
        </p:txBody>
      </p:sp>
      <p:sp>
        <p:nvSpPr>
          <p:cNvPr id="219" name="Oval 218"/>
          <p:cNvSpPr/>
          <p:nvPr/>
        </p:nvSpPr>
        <p:spPr>
          <a:xfrm>
            <a:off x="749808" y="402335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78992" y="4005072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갱신된 대출 가능 여부를 알림 목록에 반영</a:t>
            </a:r>
          </a:p>
        </p:txBody>
      </p:sp>
      <p:sp>
        <p:nvSpPr>
          <p:cNvPr id="221" name="Oval 220"/>
          <p:cNvSpPr/>
          <p:nvPr/>
        </p:nvSpPr>
        <p:spPr>
          <a:xfrm>
            <a:off x="749808" y="4462271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78992" y="4443983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관심 도서의 상태를 한곳에서 관리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92040" y="1874519"/>
            <a:ext cx="3657600" cy="30632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074920" y="3150107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074920" y="3433571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웹 UI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120640" y="449884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알림 목록 또는 알림 신청 화면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098280" y="589788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iOS 알림 화면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Rectangle 22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4: 상세 정보와 개인화 경험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68096" y="1225296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검색 이후에도 상세 확인, 저장, 참여 기능까지 이어져 재방문 흐름을 만듭니다.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13232" y="173736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14400" y="1965960"/>
            <a:ext cx="2843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도서 상세 정보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14400" y="2359152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44054"/>
                </a:solidFill>
                <a:latin typeface="Apple SD Gothic Neo"/>
              </a:rPr>
              <a:t>표지, 저자, 출판사, 소개, ISBN을 확인하고 관심 도서로 저장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32688" y="3136392"/>
            <a:ext cx="2807208" cy="22402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15568" y="400050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115568" y="4283964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도서 상세 UI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161288" y="4937760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해당 기능 화면 캡처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4480560" y="173736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681728" y="1965960"/>
            <a:ext cx="2843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도서관 상세 정보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681728" y="2359152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44054"/>
                </a:solidFill>
                <a:latin typeface="Apple SD Gothic Neo"/>
              </a:rPr>
              <a:t>주소, 전화번호, 운영 시간, 정기 휴관일 등 방문 전 정보 확인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700016" y="3136392"/>
            <a:ext cx="2807208" cy="22402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882896" y="400050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882896" y="4283964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도서관 상세 UI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928616" y="4937760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해당 기능 화면 캡처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247888" y="1737360"/>
            <a:ext cx="324612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449056" y="1965960"/>
            <a:ext cx="2843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찜·추천 기능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449056" y="2359152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344054"/>
                </a:solidFill>
                <a:latin typeface="Apple SD Gothic Neo"/>
              </a:rPr>
              <a:t>관심 도서·도서관 저장, 추천/비추천 참여, 저장 목록 재조회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8467344" y="3136392"/>
            <a:ext cx="2807208" cy="22402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650224" y="400050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650224" y="4283964"/>
            <a:ext cx="24414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찜 목록 또는 추천 UI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695944" y="4937760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해당 기능 화면 캡처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830960"/>
            <a:ext cx="10668000" cy="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Rectangle 24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기대효과 및 고도화 방향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1323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896112" y="2029968"/>
            <a:ext cx="411480" cy="411480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9611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2646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정보 통합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1440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도서 검색, 소장 여부, 대출 상태, 거리 정보를 단일 인터페이스에서 확인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50215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3685032" y="2029968"/>
            <a:ext cx="411480" cy="411480"/>
          </a:xfrm>
          <a:prstGeom prst="roundRect">
            <a:avLst/>
          </a:prstGeom>
          <a:solidFill>
            <a:srgbClr val="4A6FE8"/>
          </a:solidFill>
          <a:ln w="12700">
            <a:solidFill>
              <a:srgbClr val="4A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68503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21538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탐색 효율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70332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가까운 대출 가능 도서관부터 비교해 반복 검색과 방문 실패 가능성 감소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629107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ounded Rectangle 261"/>
          <p:cNvSpPr/>
          <p:nvPr/>
        </p:nvSpPr>
        <p:spPr>
          <a:xfrm>
            <a:off x="6473952" y="2029968"/>
            <a:ext cx="411480" cy="411480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47395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00430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개인화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49224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찜, 알림, 추천 기능으로 관심 도서와 자주 찾는 도서관을 지속 관리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9079991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9262871" y="2029968"/>
            <a:ext cx="411480" cy="411480"/>
          </a:xfrm>
          <a:prstGeom prst="roundRect">
            <a:avLst/>
          </a:prstGeom>
          <a:solidFill>
            <a:srgbClr val="FFC457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262871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9793223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고도화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281159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API 갱신 주기 최적화, 캐싱, 알림 정확도 개선으로 서비스 안정성 강화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960120" y="4892040"/>
            <a:ext cx="10259568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207008" y="5074920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4A6FE8"/>
                </a:solidFill>
                <a:latin typeface="Apple SD Gothic Neo"/>
              </a:rPr>
              <a:t>핵심 기대효과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651760" y="5056632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1426"/>
                </a:solidFill>
                <a:latin typeface="Apple SD Gothic Neo"/>
              </a:rPr>
              <a:t>사용자가 “어디서 빌릴 수 있는지”까지 판단할 수 있는 위치 기반 도서 탐색 서비스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Rectangle 26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관련 연구 및 기술 근거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68096" y="1207008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본 서비스는 기존 연구의 서지 검색, 위치 기반 탐색, 도서관 메타데이터 활용 흐름을 실제 서비스 기능으로 통합합니다.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749808" y="1993392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49808" y="2066544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61872" y="1975104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OpenAPI 기반 도서 검색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794760" y="1984248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공공·외부 API를 활용한 서지 정보 제공 가능성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749808" y="2798064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49808" y="2871216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261872" y="2779776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소장기관 연계 필요성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794760" y="2788920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기본 서지정보 중심 검색의 한계를 보유 도서관 정보와 결합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749808" y="3602736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49808" y="3675888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261872" y="3584448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GPS 기반 탐색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94760" y="3593592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사용자 위치를 기준으로 가까운 도서관을 우선 제시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749808" y="4407408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749808" y="4480560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261872" y="4389120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운영·휴관 메타데이터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794760" y="4398264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방문 전 판단에 필요한 도서관 운영 정보를 서비스 화면에 반영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768096" y="565099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4748B"/>
                </a:solidFill>
                <a:latin typeface="Apple SD Gothic Neo"/>
              </a:rPr>
              <a:t>※ 발표 시 참고문헌 번호는 최종 논문/보고서 목록에 맞춰 정리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Box 283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0D1426"/>
                </a:solidFill>
                <a:latin typeface="Apple SD Gothic Neo"/>
              </a:rPr>
              <a:t>Q &amp; A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074920" y="2926080"/>
            <a:ext cx="2057400" cy="32004"/>
          </a:xfrm>
          <a:prstGeom prst="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31520" y="3364992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44054"/>
                </a:solidFill>
                <a:latin typeface="Apple SD Gothic Neo"/>
              </a:rPr>
              <a:t>감사합니다.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31520" y="388620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64748B"/>
                </a:solidFill>
                <a:latin typeface="Apple SD Gothic Neo"/>
              </a:rPr>
              <a:t>위치 기반 공공도서관 소장 도서 검색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Macintosh PowerPoint</Application>
  <PresentationFormat>와이드스크린</PresentationFormat>
  <Paragraphs>81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Noto Sans KR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류태현</cp:lastModifiedBy>
  <cp:revision>1</cp:revision>
  <dcterms:modified xsi:type="dcterms:W3CDTF">2026-05-16T08:06:06Z</dcterms:modified>
  <dc:title>위치 기반 공공도서관 소장 도서 검색 서비스 제안</dc:title>
  <dc:subject>Polaris / PolarStar 서비스 발표자료 개선본</dc:subject>
  <dc:creator>Codex</dc:creator>
</cp:coreProperties>
</file>