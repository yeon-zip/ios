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23"/>
    <p:sldId id="263" r:id="rId9"/>
    <p:sldId id="264" r:id="rId10"/>
    <p:sldId id="266" r:id="rId12"/>
    <p:sldId id="271" r:id="rId24"/>
    <p:sldId id="265" r:id="rId11"/>
    <p:sldId id="272" r:id="rId25"/>
    <p:sldId id="267" r:id="rId13"/>
    <p:sldId id="268" r:id="rId14"/>
    <p:sldId id="269" r:id="rId15"/>
  </p:sldIdLst>
  <p:sldSz cx="12192000" cy="6858000"/>
  <p:notesSz cx="6858000" cy="9144000"/>
  <p:embeddedFontLst>
    <p:embeddedFont>
      <p:font typeface="Noto Sans KR" panose="020B020000000000000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84"/>
  </p:normalViewPr>
  <p:slideViewPr>
    <p:cSldViewPr snapToGrid="0">
      <p:cViewPr>
        <p:scale>
          <a:sx n="130" d="100"/>
          <a:sy n="130" d="100"/>
        </p:scale>
        <p:origin x="864" y="6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930ba6049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e930ba6049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930ba60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e930ba60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930ba604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e930ba604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Rounded Rectangle 84"/>
          <p:cNvSpPr/>
          <p:nvPr/>
        </p:nvSpPr>
        <p:spPr>
          <a:xfrm>
            <a:off x="4343400" y="1417320"/>
            <a:ext cx="1965960" cy="310896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849D"/>
                </a:solidFill>
                <a:latin typeface="Apple SD Gothic Neo"/>
              </a:rPr>
              <a:t>WEB / iOS 통합 서비스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44752" y="1920240"/>
            <a:ext cx="932688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800" b="1">
                <a:solidFill>
                  <a:srgbClr val="0D1426"/>
                </a:solidFill>
                <a:latin typeface="Apple SD Gothic Neo"/>
              </a:rPr>
              <a:t>위치 기반 공공도서관</a:t>
            </a:r>
          </a:p>
          <a:p>
            <a:pPr algn="ctr"/>
            <a:r>
              <a:rPr sz="3800" b="1">
                <a:solidFill>
                  <a:srgbClr val="0D1426"/>
                </a:solidFill>
                <a:latin typeface="Apple SD Gothic Neo"/>
              </a:rPr>
              <a:t>소장 도서 검색 서비스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30368" y="3310128"/>
            <a:ext cx="1737360" cy="27432"/>
          </a:xfrm>
          <a:prstGeom prst="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828800" y="3767328"/>
            <a:ext cx="85496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344054"/>
                </a:solidFill>
                <a:latin typeface="Apple SD Gothic Neo"/>
              </a:rPr>
              <a:t>내 주변에서 지금 빌릴 수 있는 책을 빠르게 찾는 통합 탐색 경험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28800" y="4187952"/>
            <a:ext cx="8549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50" b="0">
                <a:solidFill>
                  <a:srgbClr val="64748B"/>
                </a:solidFill>
                <a:latin typeface="Apple SD Gothic Neo"/>
              </a:rPr>
              <a:t>OpenAPI 기반 도서·도서관 정보 연동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00" y="21515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09737"/>
            <a:ext cx="5048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3600" y="2348750"/>
            <a:ext cx="5464549" cy="30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Rectangle 105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문제 배경: 독서 수요는 늘었지만 탐색 경험은 그대로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13232" y="1536192"/>
            <a:ext cx="1417320" cy="310896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849D"/>
                </a:solidFill>
                <a:latin typeface="Apple SD Gothic Neo"/>
              </a:rPr>
              <a:t>독서 문화 변화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13232" y="1901952"/>
            <a:ext cx="45720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D1426"/>
                </a:solidFill>
                <a:latin typeface="Apple SD Gothic Neo"/>
              </a:rPr>
              <a:t>20대 독서율 반등과</a:t>
            </a:r>
          </a:p>
          <a:p>
            <a:pPr algn="l"/>
            <a:r>
              <a:rPr sz="2400" b="1">
                <a:solidFill>
                  <a:srgbClr val="0D1426"/>
                </a:solidFill>
                <a:latin typeface="Apple SD Gothic Neo"/>
              </a:rPr>
              <a:t>도서 탐색 방식의 변화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1520" y="2852928"/>
            <a:ext cx="4526280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SNS를 중심으로 독서를 취향과 라이프스타일로 소비하는 흐름이 커졌지만, 공공도서관 탐색은 여전히 개별 사이트 검색에 머물러 있습니다.</a:t>
            </a:r>
          </a:p>
        </p:txBody>
      </p:sp>
      <p:sp>
        <p:nvSpPr>
          <p:cNvPr id="111" name="Oval 110"/>
          <p:cNvSpPr/>
          <p:nvPr/>
        </p:nvSpPr>
        <p:spPr>
          <a:xfrm>
            <a:off x="749808" y="3840479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1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0">
                <a:solidFill>
                  <a:srgbClr val="344054"/>
                </a:solidFill>
                <a:latin typeface="Apple SD Gothic Neo"/>
              </a:rPr>
              <a:t>청년층의 도서 접근성과 대출 편의 요구 증가</a:t>
            </a:r>
          </a:p>
        </p:txBody>
      </p:sp>
      <p:sp>
        <p:nvSpPr>
          <p:cNvPr id="113" name="Oval 112"/>
          <p:cNvSpPr/>
          <p:nvPr/>
        </p:nvSpPr>
        <p:spPr>
          <a:xfrm>
            <a:off x="749808" y="4279392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78992" y="4261104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0">
                <a:solidFill>
                  <a:srgbClr val="344054"/>
                </a:solidFill>
                <a:latin typeface="Apple SD Gothic Neo"/>
              </a:rPr>
              <a:t>모바일 환경에 맞는 빠른 검색·저장 경험 필요</a:t>
            </a:r>
          </a:p>
        </p:txBody>
      </p:sp>
      <p:sp>
        <p:nvSpPr>
          <p:cNvPr id="115" name="Oval 114"/>
          <p:cNvSpPr/>
          <p:nvPr/>
        </p:nvSpPr>
        <p:spPr>
          <a:xfrm>
            <a:off x="749808" y="4718303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8992" y="4700016"/>
            <a:ext cx="4572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0">
                <a:solidFill>
                  <a:srgbClr val="344054"/>
                </a:solidFill>
                <a:latin typeface="Apple SD Gothic Neo"/>
              </a:rPr>
              <a:t>도서관 방문 전 대출 가능성 판단이 중요해짐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419225"/>
            <a:ext cx="12192000" cy="54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Rectangle 111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연령대별 종합 독서율 현황 (2025)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9808" y="5193792"/>
            <a:ext cx="8686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ple SD Gothic Neo"/>
              </a:rPr>
              <a:t>출처: 문화체육관광부 2025 국민 독서실태 조사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909560" y="1042415"/>
            <a:ext cx="3063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156448" y="120700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25849D"/>
                </a:solidFill>
                <a:latin typeface="Apple SD Gothic Neo"/>
              </a:rPr>
              <a:t>핵심 해석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156448" y="1536192"/>
            <a:ext cx="2514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344054"/>
                </a:solidFill>
                <a:latin typeface="Apple SD Gothic Neo"/>
              </a:rPr>
              <a:t>독서 수요가 회복되는 흐름에서, 도서 접근 경험을 디지털 서비스로 개선할 여지가 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4547" y="2964422"/>
            <a:ext cx="4081575" cy="33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3699" y="3009675"/>
            <a:ext cx="4446550" cy="330354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Rectangle 125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기존 방식 1: 개별 도서관을 반복해서 확인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13232" y="1389888"/>
            <a:ext cx="960120" cy="31089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2410C"/>
                </a:solidFill>
                <a:latin typeface="Apple SD Gothic Neo"/>
              </a:rPr>
              <a:t>방법 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13232" y="1810512"/>
            <a:ext cx="443484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같은 책을 찾기 위해</a:t>
            </a:r>
          </a:p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도서관별 홈페이지를 따로 검색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31520" y="2706624"/>
            <a:ext cx="4343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도서명 검색, 소장 여부 확인, 대출 상태 확인을 도서관마다 반복해야 해서 사용자의 탐색 비용이 커집니다.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49808" y="4498848"/>
            <a:ext cx="1097280" cy="530352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22959" y="466344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도서관 선택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74519" y="4617720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020824" y="4498848"/>
            <a:ext cx="109728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093976" y="466344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도서 검색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145536" y="4617720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291839" y="4498848"/>
            <a:ext cx="1097280" cy="530352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364991" y="466344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소장 확인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416552" y="4617720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562856" y="4498848"/>
            <a:ext cx="109728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636008" y="4663440"/>
            <a:ext cx="95097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대출 상태 확인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303520" y="4526280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5849D"/>
                </a:solidFill>
                <a:latin typeface="Apple SD Gothic Neo"/>
              </a:rPr>
              <a:t>반복 검색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483" y="1732300"/>
            <a:ext cx="4076095" cy="467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225" y="2769851"/>
            <a:ext cx="5075199" cy="1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Rectangle 137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기존 방식 2: 중앙 검색만으로는 방문 판단이 어려움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13232" y="1389888"/>
            <a:ext cx="960120" cy="31089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2410C"/>
                </a:solidFill>
                <a:latin typeface="Apple SD Gothic Neo"/>
              </a:rPr>
              <a:t>방법 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13232" y="1810512"/>
            <a:ext cx="443484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소장기관 정보는 있어도</a:t>
            </a:r>
          </a:p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거리·운영·대출 가능성은 분리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31520" y="2706624"/>
            <a:ext cx="43434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중앙 검색은 서지 정보 확인에는 유용하지만, 실제로 어느 도서관에 가야 하는지 결정하는 정보가 부족합니다.</a:t>
            </a:r>
          </a:p>
        </p:txBody>
      </p:sp>
      <p:sp>
        <p:nvSpPr>
          <p:cNvPr id="143" name="Oval 142"/>
          <p:cNvSpPr/>
          <p:nvPr/>
        </p:nvSpPr>
        <p:spPr>
          <a:xfrm>
            <a:off x="749808" y="3840479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78992" y="3822191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내 위치 기준 거리 정렬 부재</a:t>
            </a:r>
          </a:p>
        </p:txBody>
      </p:sp>
      <p:sp>
        <p:nvSpPr>
          <p:cNvPr id="145" name="Oval 144"/>
          <p:cNvSpPr/>
          <p:nvPr/>
        </p:nvSpPr>
        <p:spPr>
          <a:xfrm>
            <a:off x="749808" y="4251959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78992" y="4233672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운영 시간·휴관일 확인 흐름 분리</a:t>
            </a:r>
          </a:p>
        </p:txBody>
      </p:sp>
      <p:sp>
        <p:nvSpPr>
          <p:cNvPr id="147" name="Oval 146"/>
          <p:cNvSpPr/>
          <p:nvPr/>
        </p:nvSpPr>
        <p:spPr>
          <a:xfrm>
            <a:off x="749808" y="4663440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78992" y="4645152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대출 가능 여부를 빠르게 비교하기 어려움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285232" y="3566160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5849D"/>
                </a:solidFill>
                <a:latin typeface="Apple SD Gothic Neo"/>
              </a:rPr>
              <a:t>비교 불가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75875"/>
            <a:ext cx="5048250" cy="223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5450" y="2275875"/>
            <a:ext cx="5048250" cy="223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Rectangle 150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문제 정의: 책 한 권을 빌리기까지 정보가 흩어져 있음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77240" y="1417320"/>
            <a:ext cx="48920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78992" y="1719072"/>
            <a:ext cx="4206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1426"/>
                </a:solidFill>
                <a:latin typeface="Apple SD Gothic Neo"/>
              </a:rPr>
              <a:t>사용자가 겪는 불편</a:t>
            </a:r>
          </a:p>
        </p:txBody>
      </p:sp>
      <p:sp>
        <p:nvSpPr>
          <p:cNvPr id="155" name="Oval 154"/>
          <p:cNvSpPr/>
          <p:nvPr/>
        </p:nvSpPr>
        <p:spPr>
          <a:xfrm>
            <a:off x="1060704" y="2286000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89888" y="2267712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80" b="0">
                <a:solidFill>
                  <a:srgbClr val="344054"/>
                </a:solidFill>
                <a:latin typeface="Apple SD Gothic Neo"/>
              </a:rPr>
              <a:t>동일 도서를 여러 도서관에서 반복 검색</a:t>
            </a:r>
          </a:p>
        </p:txBody>
      </p:sp>
      <p:sp>
        <p:nvSpPr>
          <p:cNvPr id="157" name="Oval 156"/>
          <p:cNvSpPr/>
          <p:nvPr/>
        </p:nvSpPr>
        <p:spPr>
          <a:xfrm>
            <a:off x="1060704" y="2706624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389888" y="2688336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80" b="0">
                <a:solidFill>
                  <a:srgbClr val="344054"/>
                </a:solidFill>
                <a:latin typeface="Apple SD Gothic Neo"/>
              </a:rPr>
              <a:t>소장 여부와 대출 상태를 한 번에 비교하기 어려움</a:t>
            </a:r>
          </a:p>
        </p:txBody>
      </p:sp>
      <p:sp>
        <p:nvSpPr>
          <p:cNvPr id="159" name="Oval 158"/>
          <p:cNvSpPr/>
          <p:nvPr/>
        </p:nvSpPr>
        <p:spPr>
          <a:xfrm>
            <a:off x="1060704" y="3127248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389888" y="3108960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80" b="0">
                <a:solidFill>
                  <a:srgbClr val="344054"/>
                </a:solidFill>
                <a:latin typeface="Apple SD Gothic Neo"/>
              </a:rPr>
              <a:t>거리·운영 상태·휴관 정보를 별도로 확인해야 함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492240" y="1417320"/>
            <a:ext cx="4480560" cy="2788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784848" y="1719072"/>
            <a:ext cx="3886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1426"/>
                </a:solidFill>
                <a:latin typeface="Apple SD Gothic Neo"/>
              </a:rPr>
              <a:t>서비스가 해결할 지점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784848" y="2304288"/>
            <a:ext cx="38862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0">
                <a:solidFill>
                  <a:srgbClr val="344054"/>
                </a:solidFill>
                <a:latin typeface="Apple SD Gothic Neo"/>
              </a:rPr>
              <a:t>검색 결과를 사용자의 위치와 대출 가능 상태까지 연결해, 실제 방문 가능한 도서관을 빠르게 좁혀줍니다.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784848" y="3337560"/>
            <a:ext cx="3840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5849D"/>
                </a:solidFill>
                <a:latin typeface="Apple SD Gothic Neo"/>
              </a:rPr>
              <a:t>검색 비용 감소 + 대출 성공 가능성 향상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407408" y="4800600"/>
            <a:ext cx="3383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D1426"/>
                </a:solidFill>
                <a:latin typeface="Apple SD Gothic Neo"/>
              </a:rPr>
              <a:t>핵심 문제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194560" y="5266944"/>
            <a:ext cx="795527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344054"/>
                </a:solidFill>
                <a:latin typeface="Apple SD Gothic Neo"/>
              </a:rPr>
              <a:t>“어디에 있고, 지금 빌릴 수 있는지”를 한 화면에서 판단하기 어렵다.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300" y="1896387"/>
            <a:ext cx="50482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4400" y="1896387"/>
            <a:ext cx="50482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Rectangle 167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제안 서비스: 위치·도서·대출 정보를 하나의 흐름으로 연결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04672" y="1417320"/>
            <a:ext cx="49377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133856" y="1783080"/>
            <a:ext cx="4251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1426"/>
                </a:solidFill>
                <a:latin typeface="Apple SD Gothic Neo"/>
              </a:rPr>
              <a:t>사용자 가치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43000" y="2240280"/>
            <a:ext cx="4133087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내 주변에서 빌릴 수 있는 책을 찾는 과정을 하나의 서비스 흐름으로 단축합니다.</a:t>
            </a:r>
          </a:p>
        </p:txBody>
      </p:sp>
      <p:sp>
        <p:nvSpPr>
          <p:cNvPr id="173" name="Oval 172"/>
          <p:cNvSpPr/>
          <p:nvPr/>
        </p:nvSpPr>
        <p:spPr>
          <a:xfrm>
            <a:off x="1143000" y="3017520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2184" y="2999232"/>
            <a:ext cx="4206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위치 또는 주소 기준 주변 도서관 자동 정렬</a:t>
            </a:r>
          </a:p>
        </p:txBody>
      </p:sp>
      <p:sp>
        <p:nvSpPr>
          <p:cNvPr id="175" name="Oval 174"/>
          <p:cNvSpPr/>
          <p:nvPr/>
        </p:nvSpPr>
        <p:spPr>
          <a:xfrm>
            <a:off x="1143000" y="3447288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2184" y="3429000"/>
            <a:ext cx="4206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도서 검색 결과와 소장 도서관 리스트 연동</a:t>
            </a:r>
          </a:p>
        </p:txBody>
      </p:sp>
      <p:sp>
        <p:nvSpPr>
          <p:cNvPr id="177" name="Oval 176"/>
          <p:cNvSpPr/>
          <p:nvPr/>
        </p:nvSpPr>
        <p:spPr>
          <a:xfrm>
            <a:off x="1143000" y="3877055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472184" y="3858768"/>
            <a:ext cx="4206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상세 정보, 찜, 알림, 추천까지 연결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382512" y="1417320"/>
            <a:ext cx="461772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711696" y="1783080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0D1426"/>
                </a:solidFill>
                <a:latin typeface="Apple SD Gothic Neo"/>
              </a:rPr>
              <a:t>데이터 연동 구조</a:t>
            </a:r>
          </a:p>
        </p:txBody>
      </p:sp>
      <p:sp>
        <p:nvSpPr>
          <p:cNvPr id="181" name="Oval 180"/>
          <p:cNvSpPr/>
          <p:nvPr/>
        </p:nvSpPr>
        <p:spPr>
          <a:xfrm>
            <a:off x="6702552" y="2350008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031736" y="2331720"/>
            <a:ext cx="397763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80" b="0">
                <a:solidFill>
                  <a:srgbClr val="344054"/>
                </a:solidFill>
                <a:latin typeface="Apple SD Gothic Neo"/>
              </a:rPr>
              <a:t>도서 검색·서지 정보: 도서/목록 OpenAPI</a:t>
            </a:r>
          </a:p>
        </p:txBody>
      </p:sp>
      <p:sp>
        <p:nvSpPr>
          <p:cNvPr id="183" name="Oval 182"/>
          <p:cNvSpPr/>
          <p:nvPr/>
        </p:nvSpPr>
        <p:spPr>
          <a:xfrm>
            <a:off x="6702552" y="2752344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031736" y="2734056"/>
            <a:ext cx="397763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80" b="0">
                <a:solidFill>
                  <a:srgbClr val="344054"/>
                </a:solidFill>
                <a:latin typeface="Apple SD Gothic Neo"/>
              </a:rPr>
              <a:t>소장·대출 상태: 도서관 정보나루 기반 데이터</a:t>
            </a:r>
          </a:p>
        </p:txBody>
      </p:sp>
      <p:sp>
        <p:nvSpPr>
          <p:cNvPr id="185" name="Oval 184"/>
          <p:cNvSpPr/>
          <p:nvPr/>
        </p:nvSpPr>
        <p:spPr>
          <a:xfrm>
            <a:off x="6702552" y="3154679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031736" y="3136391"/>
            <a:ext cx="397763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80" b="0">
                <a:solidFill>
                  <a:srgbClr val="344054"/>
                </a:solidFill>
                <a:latin typeface="Apple SD Gothic Neo"/>
              </a:rPr>
              <a:t>위치·주소: 카카오 로컬 API 활용</a:t>
            </a:r>
          </a:p>
        </p:txBody>
      </p:sp>
      <p:sp>
        <p:nvSpPr>
          <p:cNvPr id="187" name="Oval 186"/>
          <p:cNvSpPr/>
          <p:nvPr/>
        </p:nvSpPr>
        <p:spPr>
          <a:xfrm>
            <a:off x="6702552" y="3557016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031736" y="3538728"/>
            <a:ext cx="3977639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80" b="0">
                <a:solidFill>
                  <a:srgbClr val="344054"/>
                </a:solidFill>
                <a:latin typeface="Apple SD Gothic Neo"/>
              </a:rPr>
              <a:t>Web과 iOS가 동일 백엔드 API 사용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828800" y="5650992"/>
            <a:ext cx="1417320" cy="530352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901952" y="5815583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책 검색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273551" y="5769864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3429000" y="5650992"/>
            <a:ext cx="141732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502152" y="5815583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ISBN 식별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873752" y="5769864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5029200" y="5650992"/>
            <a:ext cx="1417320" cy="530352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102352" y="5815583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주변 도서관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473952" y="5769864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6629400" y="5650992"/>
            <a:ext cx="141732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702552" y="5815583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대출 상태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074152" y="5769864"/>
            <a:ext cx="1097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849D"/>
                </a:solidFill>
                <a:latin typeface="Apple SD Gothic Neo"/>
              </a:rPr>
              <a:t>›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8229600" y="5650992"/>
            <a:ext cx="1417320" cy="530352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D7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302752" y="5815583"/>
            <a:ext cx="127101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20" b="1">
                <a:solidFill>
                  <a:srgbClr val="0D1426"/>
                </a:solidFill>
                <a:latin typeface="Apple SD Gothic Neo"/>
              </a:rPr>
              <a:t>찜/알림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09737"/>
            <a:ext cx="5048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D1E1E3-E434-FAD0-4306-DB2210C223F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" b="-1"/>
          <a:stretch>
            <a:fillRect/>
          </a:stretch>
        </p:blipFill>
        <p:spPr>
          <a:xfrm>
            <a:off x="9163651" y="1588152"/>
            <a:ext cx="2784860" cy="5314767"/>
          </a:xfrm>
          <a:prstGeom prst="rect">
            <a:avLst/>
          </a:prstGeom>
        </p:spPr>
      </p:pic>
      <p:sp>
        <p:nvSpPr>
          <p:cNvPr id="179" name="Rectangle 178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주요 기능 1: 위치 기반 도서관 탐색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13232" y="1444752"/>
            <a:ext cx="1417320" cy="310896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849D"/>
                </a:solidFill>
                <a:latin typeface="Apple SD Gothic Neo"/>
              </a:rPr>
              <a:t>Location First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13232" y="1847088"/>
            <a:ext cx="457200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현재 위치 또는 지정 주소를 기준으로</a:t>
            </a:r>
          </a:p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가까운 도서관부터 확인합니다.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31520" y="2670048"/>
            <a:ext cx="449884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단순 도서관 목록이 아니라, 실제 방문 판단에 필요한 거리와 운영 상태를 함께 제공합니다.</a:t>
            </a:r>
          </a:p>
        </p:txBody>
      </p:sp>
      <p:sp>
        <p:nvSpPr>
          <p:cNvPr id="184" name="Oval 183"/>
          <p:cNvSpPr/>
          <p:nvPr/>
        </p:nvSpPr>
        <p:spPr>
          <a:xfrm>
            <a:off x="749808" y="3675887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78992" y="3657600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2km / 5km / 10km 탐색 반경 선택</a:t>
            </a:r>
          </a:p>
        </p:txBody>
      </p:sp>
      <p:sp>
        <p:nvSpPr>
          <p:cNvPr id="186" name="Oval 185"/>
          <p:cNvSpPr/>
          <p:nvPr/>
        </p:nvSpPr>
        <p:spPr>
          <a:xfrm>
            <a:off x="749808" y="4114800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78992" y="4096512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거리순 도서관 목록과 운영 상태 표시</a:t>
            </a:r>
          </a:p>
        </p:txBody>
      </p:sp>
      <p:sp>
        <p:nvSpPr>
          <p:cNvPr id="188" name="Oval 187"/>
          <p:cNvSpPr/>
          <p:nvPr/>
        </p:nvSpPr>
        <p:spPr>
          <a:xfrm>
            <a:off x="749808" y="4553712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78992" y="4535424"/>
            <a:ext cx="4389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운영 종료 도서관 제외 필터 제공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5166360" y="1508760"/>
            <a:ext cx="4069080" cy="29260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5349240" y="2715768"/>
            <a:ext cx="3703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Apple SD Gothic Neo"/>
              </a:rPr>
              <a:t>사진 넣어주세요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349240" y="2999232"/>
            <a:ext cx="3703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5849D"/>
                </a:solidFill>
                <a:latin typeface="Apple SD Gothic Neo"/>
              </a:rPr>
              <a:t>웹 UI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394960" y="3995927"/>
            <a:ext cx="3611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홈 또는 주변 도서관 목록 화면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235440" y="5833872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iOS 화면은 우측 배치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36;p17">
            <a:extLst>
              <a:ext uri="{FF2B5EF4-FFF2-40B4-BE49-F238E27FC236}">
                <a16:creationId xmlns:a16="http://schemas.microsoft.com/office/drawing/2014/main" id="{3F7CCB72-B845-7538-1C4F-0C059D130F2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7044" y="1938962"/>
            <a:ext cx="2741713" cy="314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763DCDE-04BE-82BA-8D9D-BCD4AC0E7A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926" y="931250"/>
            <a:ext cx="3964905" cy="25787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1F5FBFE-73CB-7A69-AFDA-58695F4A3F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2993" y="3428999"/>
            <a:ext cx="1736210" cy="3313471"/>
          </a:xfrm>
          <a:prstGeom prst="rect">
            <a:avLst/>
          </a:prstGeom>
        </p:spPr>
      </p:pic>
      <p:sp>
        <p:nvSpPr>
          <p:cNvPr id="195" name="Rectangle 194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주요 기능 2: 대출 가능 도서관 통합 조회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713232" y="1417320"/>
            <a:ext cx="1600200" cy="310896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849D"/>
                </a:solidFill>
                <a:latin typeface="Apple SD Gothic Neo"/>
              </a:rPr>
              <a:t>Book Availability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13232" y="1810512"/>
            <a:ext cx="42062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검색한 책을 선택하면</a:t>
            </a:r>
          </a:p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보유 도서관을 거리순으로 비교합니다.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31520" y="2651760"/>
            <a:ext cx="39776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40" b="0">
                <a:solidFill>
                  <a:srgbClr val="344054"/>
                </a:solidFill>
                <a:latin typeface="Apple SD Gothic Neo"/>
              </a:rPr>
              <a:t>ISBN을 기준으로 동일 도서를 식별하고, 가까운 도서관 중 대출 가능한 곳을 빠르게 좁힐 수 있습니다.</a:t>
            </a:r>
          </a:p>
        </p:txBody>
      </p:sp>
      <p:sp>
        <p:nvSpPr>
          <p:cNvPr id="200" name="Oval 199"/>
          <p:cNvSpPr/>
          <p:nvPr/>
        </p:nvSpPr>
        <p:spPr>
          <a:xfrm>
            <a:off x="749808" y="3675887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78992" y="3657600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344054"/>
                </a:solidFill>
                <a:latin typeface="Apple SD Gothic Neo"/>
              </a:rPr>
              <a:t>ISBN 기반 동일 도서 식별</a:t>
            </a:r>
          </a:p>
        </p:txBody>
      </p:sp>
      <p:sp>
        <p:nvSpPr>
          <p:cNvPr id="202" name="Oval 201"/>
          <p:cNvSpPr/>
          <p:nvPr/>
        </p:nvSpPr>
        <p:spPr>
          <a:xfrm>
            <a:off x="749808" y="4059935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78992" y="4041648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344054"/>
                </a:solidFill>
                <a:latin typeface="Apple SD Gothic Neo"/>
              </a:rPr>
              <a:t>소장 도서관 거리순 정렬</a:t>
            </a:r>
          </a:p>
        </p:txBody>
      </p:sp>
      <p:sp>
        <p:nvSpPr>
          <p:cNvPr id="204" name="Oval 203"/>
          <p:cNvSpPr/>
          <p:nvPr/>
        </p:nvSpPr>
        <p:spPr>
          <a:xfrm>
            <a:off x="749808" y="4443983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78992" y="4425696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344054"/>
                </a:solidFill>
                <a:latin typeface="Apple SD Gothic Neo"/>
              </a:rPr>
              <a:t>대출 가능 도서관 필터링</a:t>
            </a:r>
          </a:p>
        </p:txBody>
      </p:sp>
      <p:sp>
        <p:nvSpPr>
          <p:cNvPr id="206" name="Oval 205"/>
          <p:cNvSpPr/>
          <p:nvPr/>
        </p:nvSpPr>
        <p:spPr>
          <a:xfrm>
            <a:off x="749808" y="4828031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78992" y="4809744"/>
            <a:ext cx="4160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344054"/>
                </a:solidFill>
                <a:latin typeface="Apple SD Gothic Neo"/>
              </a:rPr>
              <a:t>도서 상세 정보와 바로 연결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675120" y="5650992"/>
            <a:ext cx="374903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25849D"/>
                </a:solidFill>
                <a:latin typeface="Apple SD Gothic Neo"/>
              </a:rPr>
              <a:t>웹과 iOS 모두 동일한 검색 흐름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5A3C258-F81A-E50F-CB69-56137DEA8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520" y="2069690"/>
            <a:ext cx="2509004" cy="4788310"/>
          </a:xfrm>
          <a:prstGeom prst="rect">
            <a:avLst/>
          </a:prstGeom>
        </p:spPr>
      </p:pic>
      <p:sp>
        <p:nvSpPr>
          <p:cNvPr id="212" name="Rectangle 211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3000" b="1">
                <a:solidFill>
                  <a:srgbClr val="0D1426"/>
                </a:solidFill>
                <a:latin typeface="Apple SD Gothic Neo"/>
              </a:rPr>
              <a:t>주요 기능 5: 대출 상태 변화 알림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713232" y="1353312"/>
            <a:ext cx="1261872" cy="310896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849D"/>
                </a:solidFill>
                <a:latin typeface="Apple SD Gothic Neo"/>
              </a:rPr>
              <a:t>Notification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13232" y="1737360"/>
            <a:ext cx="45262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관심 있는 대출 중 도서를</a:t>
            </a:r>
          </a:p>
          <a:p>
            <a:pPr algn="l"/>
            <a:r>
              <a:rPr sz="2300" b="1">
                <a:solidFill>
                  <a:srgbClr val="0D1426"/>
                </a:solidFill>
                <a:latin typeface="Apple SD Gothic Neo"/>
              </a:rPr>
              <a:t>따로 추적하고 상태 변화를 확인합니다.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31520" y="2578608"/>
            <a:ext cx="45262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0">
                <a:solidFill>
                  <a:srgbClr val="344054"/>
                </a:solidFill>
                <a:latin typeface="Apple SD Gothic Neo"/>
              </a:rPr>
              <a:t>알림 신청 도서의 갱신된 대출 가능 정보를 반영해, 사용자가 같은 검색을 반복하지 않도록 돕습니다.</a:t>
            </a:r>
          </a:p>
        </p:txBody>
      </p:sp>
      <p:sp>
        <p:nvSpPr>
          <p:cNvPr id="217" name="Oval 216"/>
          <p:cNvSpPr/>
          <p:nvPr/>
        </p:nvSpPr>
        <p:spPr>
          <a:xfrm>
            <a:off x="749808" y="3584448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78992" y="3566160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대출 불가 도서관에 알림 신청</a:t>
            </a:r>
          </a:p>
        </p:txBody>
      </p:sp>
      <p:sp>
        <p:nvSpPr>
          <p:cNvPr id="219" name="Oval 218"/>
          <p:cNvSpPr/>
          <p:nvPr/>
        </p:nvSpPr>
        <p:spPr>
          <a:xfrm>
            <a:off x="749808" y="4023359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78992" y="4005072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갱신된 대출 가능 여부를 알림 목록에 반영</a:t>
            </a:r>
          </a:p>
        </p:txBody>
      </p:sp>
      <p:sp>
        <p:nvSpPr>
          <p:cNvPr id="221" name="Oval 220"/>
          <p:cNvSpPr/>
          <p:nvPr/>
        </p:nvSpPr>
        <p:spPr>
          <a:xfrm>
            <a:off x="749808" y="4462271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78992" y="4443983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344054"/>
                </a:solidFill>
                <a:latin typeface="Apple SD Gothic Neo"/>
              </a:rPr>
              <a:t>관심 도서의 상태를 한곳에서 관리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892040" y="1874519"/>
            <a:ext cx="3657600" cy="306324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074920" y="3150107"/>
            <a:ext cx="3291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Apple SD Gothic Neo"/>
              </a:rPr>
              <a:t>사진 넣어주세요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074920" y="3433571"/>
            <a:ext cx="3291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5849D"/>
                </a:solidFill>
                <a:latin typeface="Apple SD Gothic Neo"/>
              </a:rPr>
              <a:t>웹 UI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120640" y="4498848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알림 목록 또는 알림 신청 화면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098280" y="5897880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iOS 알림 화면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Rectangle 228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주요 기능 3: 도서·도서관 상세 정보 제공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68096" y="1225296"/>
            <a:ext cx="9784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Apple SD Gothic Neo"/>
              </a:rPr>
              <a:t>검색 결과에서 바로 상세 화면으로 진입해 방문 전 필요한 정보를 확인합니다.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749808" y="1783080"/>
            <a:ext cx="49834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042415" y="2057400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  <a:latin typeface="Apple SD Gothic Neo"/>
              </a:rPr>
              <a:t>도서 상세</a:t>
            </a:r>
          </a:p>
        </p:txBody>
      </p:sp>
      <p:sp>
        <p:nvSpPr>
          <p:cNvPr id="234" name="Oval 233"/>
          <p:cNvSpPr/>
          <p:nvPr/>
        </p:nvSpPr>
        <p:spPr>
          <a:xfrm>
            <a:off x="1042415" y="2688336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371600" y="2670048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344054"/>
                </a:solidFill>
                <a:latin typeface="Apple SD Gothic Neo"/>
              </a:rPr>
              <a:t>표지, 저자, 출판사, 출간 정보 제공</a:t>
            </a:r>
          </a:p>
        </p:txBody>
      </p:sp>
      <p:sp>
        <p:nvSpPr>
          <p:cNvPr id="236" name="Oval 235"/>
          <p:cNvSpPr/>
          <p:nvPr/>
        </p:nvSpPr>
        <p:spPr>
          <a:xfrm>
            <a:off x="1042415" y="3099816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371600" y="3081528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344054"/>
                </a:solidFill>
                <a:latin typeface="Apple SD Gothic Neo"/>
              </a:rPr>
              <a:t>도서 소개와 ISBN 정보 확인</a:t>
            </a:r>
          </a:p>
        </p:txBody>
      </p:sp>
      <p:sp>
        <p:nvSpPr>
          <p:cNvPr id="238" name="Oval 237"/>
          <p:cNvSpPr/>
          <p:nvPr/>
        </p:nvSpPr>
        <p:spPr>
          <a:xfrm>
            <a:off x="1042415" y="3511296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371600" y="3493008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344054"/>
                </a:solidFill>
                <a:latin typeface="Apple SD Gothic Neo"/>
              </a:rPr>
              <a:t>도서 찜 및 추천/비추천 액션 연결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051560" y="3886200"/>
            <a:ext cx="4315968" cy="15087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234439" y="4384548"/>
            <a:ext cx="3950207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Apple SD Gothic Neo"/>
              </a:rPr>
              <a:t>사진 넣어주세요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234439" y="4668012"/>
            <a:ext cx="395020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5849D"/>
                </a:solidFill>
                <a:latin typeface="Apple SD Gothic Neo"/>
              </a:rPr>
              <a:t>도서 상세 UI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280160" y="4956048"/>
            <a:ext cx="3858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웹 또는 iOS 도서 상세 화면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6355080" y="1783080"/>
            <a:ext cx="498348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6647688" y="2057400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  <a:latin typeface="Apple SD Gothic Neo"/>
              </a:rPr>
              <a:t>도서관 상세</a:t>
            </a:r>
          </a:p>
        </p:txBody>
      </p:sp>
      <p:sp>
        <p:nvSpPr>
          <p:cNvPr id="246" name="Oval 245"/>
          <p:cNvSpPr/>
          <p:nvPr/>
        </p:nvSpPr>
        <p:spPr>
          <a:xfrm>
            <a:off x="6647688" y="2688336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976872" y="2670048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344054"/>
                </a:solidFill>
                <a:latin typeface="Apple SD Gothic Neo"/>
              </a:rPr>
              <a:t>주소, 전화번호, 거리 정보 확인</a:t>
            </a:r>
          </a:p>
        </p:txBody>
      </p:sp>
      <p:sp>
        <p:nvSpPr>
          <p:cNvPr id="248" name="Oval 247"/>
          <p:cNvSpPr/>
          <p:nvPr/>
        </p:nvSpPr>
        <p:spPr>
          <a:xfrm>
            <a:off x="6647688" y="3099816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976872" y="3081528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344054"/>
                </a:solidFill>
                <a:latin typeface="Apple SD Gothic Neo"/>
              </a:rPr>
              <a:t>운영 시간과 휴관 정보 제공</a:t>
            </a:r>
          </a:p>
        </p:txBody>
      </p:sp>
      <p:sp>
        <p:nvSpPr>
          <p:cNvPr id="250" name="Oval 249"/>
          <p:cNvSpPr/>
          <p:nvPr/>
        </p:nvSpPr>
        <p:spPr>
          <a:xfrm>
            <a:off x="6647688" y="3511296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6976872" y="3493008"/>
            <a:ext cx="4343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344054"/>
                </a:solidFill>
                <a:latin typeface="Apple SD Gothic Neo"/>
              </a:rPr>
              <a:t>방문 전 도서관 상태 판단 지원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6656832" y="3886200"/>
            <a:ext cx="4315968" cy="15087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6839712" y="4384548"/>
            <a:ext cx="3950207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Apple SD Gothic Neo"/>
              </a:rPr>
              <a:t>사진 넣어주세요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6839712" y="4668012"/>
            <a:ext cx="395020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5849D"/>
                </a:solidFill>
                <a:latin typeface="Apple SD Gothic Neo"/>
              </a:rPr>
              <a:t>도서관 상세 UI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885432" y="4956048"/>
            <a:ext cx="3858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도서관 상세 모달/화면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830960"/>
            <a:ext cx="10668000" cy="7505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Rectangle 248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기대효과 및 고도화 방향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713232" y="1828800"/>
            <a:ext cx="23317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ounded Rectangle 251"/>
          <p:cNvSpPr/>
          <p:nvPr/>
        </p:nvSpPr>
        <p:spPr>
          <a:xfrm>
            <a:off x="896112" y="2029968"/>
            <a:ext cx="411480" cy="411480"/>
          </a:xfrm>
          <a:prstGeom prst="round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896112" y="2093976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426464" y="2002536"/>
            <a:ext cx="141731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정보 통합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14400" y="2542032"/>
            <a:ext cx="1929384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344054"/>
                </a:solidFill>
                <a:latin typeface="Apple SD Gothic Neo"/>
              </a:rPr>
              <a:t>도서 검색, 소장 여부, 대출 상태, 거리 정보를 단일 인터페이스에서 확인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3502152" y="1828800"/>
            <a:ext cx="23317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ounded Rectangle 256"/>
          <p:cNvSpPr/>
          <p:nvPr/>
        </p:nvSpPr>
        <p:spPr>
          <a:xfrm>
            <a:off x="3685032" y="2029968"/>
            <a:ext cx="411480" cy="411480"/>
          </a:xfrm>
          <a:prstGeom prst="roundRect">
            <a:avLst/>
          </a:prstGeom>
          <a:solidFill>
            <a:srgbClr val="4A6FE8"/>
          </a:solidFill>
          <a:ln w="12700">
            <a:solidFill>
              <a:srgbClr val="4A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3685032" y="2093976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215384" y="2002536"/>
            <a:ext cx="141731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탐색 효율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3703320" y="2542032"/>
            <a:ext cx="1929384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344054"/>
                </a:solidFill>
                <a:latin typeface="Apple SD Gothic Neo"/>
              </a:rPr>
              <a:t>가까운 대출 가능 도서관부터 비교해 반복 검색과 방문 실패 가능성 감소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6291072" y="1828800"/>
            <a:ext cx="23317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ounded Rectangle 261"/>
          <p:cNvSpPr/>
          <p:nvPr/>
        </p:nvSpPr>
        <p:spPr>
          <a:xfrm>
            <a:off x="6473952" y="2029968"/>
            <a:ext cx="411480" cy="411480"/>
          </a:xfrm>
          <a:prstGeom prst="roundRect">
            <a:avLst/>
          </a:prstGeom>
          <a:solidFill>
            <a:srgbClr val="34A853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6473952" y="2093976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7004304" y="2002536"/>
            <a:ext cx="141731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개인화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6492240" y="2542032"/>
            <a:ext cx="1929384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344054"/>
                </a:solidFill>
                <a:latin typeface="Apple SD Gothic Neo"/>
              </a:rPr>
              <a:t>찜, 알림, 추천 기능으로 관심 도서와 자주 찾는 도서관을 지속 관리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9079991" y="1828800"/>
            <a:ext cx="23317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ounded Rectangle 266"/>
          <p:cNvSpPr/>
          <p:nvPr/>
        </p:nvSpPr>
        <p:spPr>
          <a:xfrm>
            <a:off x="9262871" y="2029968"/>
            <a:ext cx="411480" cy="411480"/>
          </a:xfrm>
          <a:prstGeom prst="roundRect">
            <a:avLst/>
          </a:prstGeom>
          <a:solidFill>
            <a:srgbClr val="FFC457"/>
          </a:solidFill>
          <a:ln w="1270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9262871" y="2093976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9793223" y="2002536"/>
            <a:ext cx="141731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고도화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9281159" y="2542032"/>
            <a:ext cx="1929384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344054"/>
                </a:solidFill>
                <a:latin typeface="Apple SD Gothic Neo"/>
              </a:rPr>
              <a:t>API 갱신 주기 최적화, 캐싱, 알림 정확도 개선으로 서비스 안정성 강화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960120" y="4892040"/>
            <a:ext cx="10259568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207008" y="5074920"/>
            <a:ext cx="14630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4A6FE8"/>
                </a:solidFill>
                <a:latin typeface="Apple SD Gothic Neo"/>
              </a:rPr>
              <a:t>핵심 기대효과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2651760" y="5056632"/>
            <a:ext cx="8046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1426"/>
                </a:solidFill>
                <a:latin typeface="Apple SD Gothic Neo"/>
              </a:rPr>
              <a:t>사용자가 “어디서 빌릴 수 있는지”까지 판단할 수 있는 위치 기반 도서 탐색 서비스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Rectangle 268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관련 연구 및 기술 근거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768096" y="1207008"/>
            <a:ext cx="9875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Apple SD Gothic Neo"/>
              </a:rPr>
              <a:t>본 서비스는 기존 연구의 서지 검색, 위치 기반 탐색, 도서관 메타데이터 활용 흐름을 실제 서비스 기능으로 통합합니다.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749808" y="1993392"/>
            <a:ext cx="329184" cy="329184"/>
          </a:xfrm>
          <a:prstGeom prst="round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749808" y="2066544"/>
            <a:ext cx="32918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261872" y="1975104"/>
            <a:ext cx="27432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D1426"/>
                </a:solidFill>
                <a:latin typeface="Apple SD Gothic Neo"/>
              </a:rPr>
              <a:t>OpenAPI 기반 도서 검색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794760" y="1984248"/>
            <a:ext cx="6766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344054"/>
                </a:solidFill>
                <a:latin typeface="Apple SD Gothic Neo"/>
              </a:rPr>
              <a:t>공공·외부 API를 활용한 서지 정보 제공 가능성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749808" y="2798064"/>
            <a:ext cx="329184" cy="329184"/>
          </a:xfrm>
          <a:prstGeom prst="round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749808" y="2871216"/>
            <a:ext cx="32918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261872" y="2779776"/>
            <a:ext cx="27432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D1426"/>
                </a:solidFill>
                <a:latin typeface="Apple SD Gothic Neo"/>
              </a:rPr>
              <a:t>소장기관 연계 필요성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794760" y="2788920"/>
            <a:ext cx="6766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344054"/>
                </a:solidFill>
                <a:latin typeface="Apple SD Gothic Neo"/>
              </a:rPr>
              <a:t>기본 서지정보 중심 검색의 한계를 보유 도서관 정보와 결합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749808" y="3602736"/>
            <a:ext cx="329184" cy="329184"/>
          </a:xfrm>
          <a:prstGeom prst="round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749808" y="3675888"/>
            <a:ext cx="32918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261872" y="3584448"/>
            <a:ext cx="27432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D1426"/>
                </a:solidFill>
                <a:latin typeface="Apple SD Gothic Neo"/>
              </a:rPr>
              <a:t>GPS 기반 탐색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794760" y="3593592"/>
            <a:ext cx="6766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344054"/>
                </a:solidFill>
                <a:latin typeface="Apple SD Gothic Neo"/>
              </a:rPr>
              <a:t>사용자 위치를 기준으로 가까운 도서관을 우선 제시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749808" y="4407408"/>
            <a:ext cx="329184" cy="329184"/>
          </a:xfrm>
          <a:prstGeom prst="round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749808" y="4480560"/>
            <a:ext cx="32918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261872" y="4389120"/>
            <a:ext cx="27432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D1426"/>
                </a:solidFill>
                <a:latin typeface="Apple SD Gothic Neo"/>
              </a:rPr>
              <a:t>운영·휴관 메타데이터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794760" y="4398264"/>
            <a:ext cx="6766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20" b="0">
                <a:solidFill>
                  <a:srgbClr val="344054"/>
                </a:solidFill>
                <a:latin typeface="Apple SD Gothic Neo"/>
              </a:rPr>
              <a:t>방문 전 판단에 필요한 도서관 운영 정보를 서비스 화면에 반영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768096" y="5650992"/>
            <a:ext cx="9875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64748B"/>
                </a:solidFill>
                <a:latin typeface="Apple SD Gothic Neo"/>
              </a:rPr>
              <a:t>※ 발표 시 참고문헌 번호는 최종 논문/보고서 목록에 맞춰 정리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TextBox 283"/>
          <p:cNvSpPr txBox="1"/>
          <p:nvPr/>
        </p:nvSpPr>
        <p:spPr>
          <a:xfrm>
            <a:off x="731520" y="2011680"/>
            <a:ext cx="107899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4800" b="1">
                <a:solidFill>
                  <a:srgbClr val="0D1426"/>
                </a:solidFill>
                <a:latin typeface="Apple SD Gothic Neo"/>
              </a:rPr>
              <a:t>Q &amp; A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5074920" y="2926080"/>
            <a:ext cx="2057400" cy="32004"/>
          </a:xfrm>
          <a:prstGeom prst="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731520" y="3364992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344054"/>
                </a:solidFill>
                <a:latin typeface="Apple SD Gothic Neo"/>
              </a:rPr>
              <a:t>감사합니다.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31520" y="3886200"/>
            <a:ext cx="10789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0">
                <a:solidFill>
                  <a:srgbClr val="64748B"/>
                </a:solidFill>
                <a:latin typeface="Apple SD Gothic Neo"/>
              </a:rPr>
              <a:t>위치 기반 공공도서관 소장 도서 검색 서비스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921240" y="-502920"/>
            <a:ext cx="2468880" cy="2468880"/>
          </a:xfrm>
          <a:prstGeom prst="ellipse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사용자 흐름: 검색에서 대출 가능 도서관 선택까지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225296"/>
            <a:ext cx="9784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Apple SD Gothic Neo"/>
              </a:rPr>
              <a:t>기능을 따로 나열하기보다, 사용자가 실제로 책을 찾는 과정을 하나의 흐름으로 보여주는 장표입니다.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154680" cy="12618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384048" cy="384048"/>
          </a:xfrm>
          <a:prstGeom prst="roundRect">
            <a:avLst/>
          </a:prstGeom>
          <a:solidFill>
            <a:srgbClr val="4FB2CB"/>
          </a:solidFill>
          <a:ln w="12700"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35124"/>
            <a:ext cx="38404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39112"/>
            <a:ext cx="23134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D1426"/>
                </a:solidFill>
                <a:latin typeface="Apple SD Gothic Neo"/>
              </a:rPr>
              <a:t>위치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51176"/>
            <a:ext cx="27523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>
                <a:solidFill>
                  <a:srgbClr val="344054"/>
                </a:solidFill>
                <a:latin typeface="Apple SD Gothic Neo"/>
              </a:rPr>
              <a:t>현재 위치 또는 주소를 기준으로 탐색 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874519"/>
            <a:ext cx="3154680" cy="12618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2057400"/>
            <a:ext cx="384048" cy="384048"/>
          </a:xfrm>
          <a:prstGeom prst="roundRect">
            <a:avLst/>
          </a:prstGeom>
          <a:solidFill>
            <a:srgbClr val="4A6FE8"/>
          </a:solidFill>
          <a:ln w="12700">
            <a:solidFill>
              <a:srgbClr val="4A6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35124"/>
            <a:ext cx="38404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2039112"/>
            <a:ext cx="23134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D1426"/>
                </a:solidFill>
                <a:latin typeface="Apple SD Gothic Neo"/>
              </a:rPr>
              <a:t>도서 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551176"/>
            <a:ext cx="27523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>
                <a:solidFill>
                  <a:srgbClr val="344054"/>
                </a:solidFill>
                <a:latin typeface="Apple SD Gothic Neo"/>
              </a:rPr>
              <a:t>제목·저자 검색 후 ISBN 기준으로 도서 선택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874519"/>
            <a:ext cx="3154680" cy="12618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2057400"/>
            <a:ext cx="384048" cy="384048"/>
          </a:xfrm>
          <a:prstGeom prst="roundRect">
            <a:avLst/>
          </a:prstGeom>
          <a:solidFill>
            <a:srgbClr val="34A853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35124"/>
            <a:ext cx="38404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2039112"/>
            <a:ext cx="23134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D1426"/>
                </a:solidFill>
                <a:latin typeface="Apple SD Gothic Neo"/>
              </a:rPr>
              <a:t>도서관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551176"/>
            <a:ext cx="27523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>
                <a:solidFill>
                  <a:srgbClr val="344054"/>
                </a:solidFill>
                <a:latin typeface="Apple SD Gothic Neo"/>
              </a:rPr>
              <a:t>소장 도서관을 거리순으로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474720"/>
            <a:ext cx="3154680" cy="12618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3657600"/>
            <a:ext cx="384048" cy="384048"/>
          </a:xfrm>
          <a:prstGeom prst="roundRect">
            <a:avLst/>
          </a:prstGeom>
          <a:solidFill>
            <a:srgbClr val="FFC457"/>
          </a:solidFill>
          <a:ln w="1270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35324"/>
            <a:ext cx="38404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3639312"/>
            <a:ext cx="23134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D1426"/>
                </a:solidFill>
                <a:latin typeface="Apple SD Gothic Neo"/>
              </a:rPr>
              <a:t>상태 판단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4151376"/>
            <a:ext cx="27523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>
                <a:solidFill>
                  <a:srgbClr val="344054"/>
                </a:solidFill>
                <a:latin typeface="Apple SD Gothic Neo"/>
              </a:rPr>
              <a:t>운영 상태와 대출 가능 여부를 함께 확인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3128" y="3474720"/>
            <a:ext cx="3154680" cy="12618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17720" y="3657600"/>
            <a:ext cx="384048" cy="384048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735324"/>
            <a:ext cx="38404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ple SD Gothic Ne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1496" y="3639312"/>
            <a:ext cx="23134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D1426"/>
                </a:solidFill>
                <a:latin typeface="Apple SD Gothic Neo"/>
              </a:rPr>
              <a:t>저장/알림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4151376"/>
            <a:ext cx="27523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>
                <a:solidFill>
                  <a:srgbClr val="344054"/>
                </a:solidFill>
                <a:latin typeface="Apple SD Gothic Neo"/>
              </a:rPr>
              <a:t>관심 도서관은 찜, 대출 중이면 알림 신청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5212080"/>
            <a:ext cx="3337560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5385816"/>
            <a:ext cx="10515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1">
                <a:solidFill>
                  <a:srgbClr val="4A6FE8"/>
                </a:solidFill>
                <a:latin typeface="Apple SD Gothic Neo"/>
              </a:rPr>
              <a:t>핵심 메시지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5358384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1">
                <a:solidFill>
                  <a:srgbClr val="0D1426"/>
                </a:solidFill>
                <a:latin typeface="Apple SD Gothic Neo"/>
              </a:rPr>
              <a:t>검색 결과가 실제 방문 결정으로 이어짐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921240" y="-502920"/>
            <a:ext cx="2468880" cy="2468880"/>
          </a:xfrm>
          <a:prstGeom prst="ellipse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주요 기능 4: 찜·추천 기반 개인화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225296"/>
            <a:ext cx="9784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Apple SD Gothic Neo"/>
              </a:rPr>
              <a:t>단발성 검색에서 끝나지 않고, 관심 도서와 도서관을 계속 관리할 수 있게 설계했습니다.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32461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3911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도서 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68880"/>
            <a:ext cx="2697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70" b="0">
                <a:solidFill>
                  <a:srgbClr val="344054"/>
                </a:solidFill>
                <a:latin typeface="Apple SD Gothic Neo"/>
              </a:rPr>
              <a:t>관심 있는 책을 저장하고 상세 화면이나 검색 흐름으로 빠르게 재진입합니다.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" y="3401568"/>
            <a:ext cx="2788920" cy="169164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91356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Apple SD Gothic Neo"/>
              </a:rPr>
              <a:t>사진 넣어주세요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4274820"/>
            <a:ext cx="2423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5849D"/>
                </a:solidFill>
                <a:latin typeface="Apple SD Gothic Neo"/>
              </a:rPr>
              <a:t>찜한 도서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4654296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도서 찜 목록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83080"/>
            <a:ext cx="3246120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203911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도서관 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468880"/>
            <a:ext cx="2697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70" b="0">
                <a:solidFill>
                  <a:srgbClr val="344054"/>
                </a:solidFill>
                <a:latin typeface="Apple SD Gothic Neo"/>
              </a:rPr>
              <a:t>자주 이용하는 도서관을 따로 저장해 주변 탐색과 상세 확인 시간을 줄입니다.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8304" y="3401568"/>
            <a:ext cx="2788920" cy="169164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1184" y="3991356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Apple SD Gothic Neo"/>
              </a:rPr>
              <a:t>사진 넣어주세요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4" y="4274820"/>
            <a:ext cx="2423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5849D"/>
                </a:solidFill>
                <a:latin typeface="Apple SD Gothic Neo"/>
              </a:rPr>
              <a:t>찜한 도서관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6904" y="4654296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도서관 찜 목록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2" y="1783080"/>
            <a:ext cx="32461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9056" y="203911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D1426"/>
                </a:solidFill>
                <a:latin typeface="Apple SD Gothic Neo"/>
              </a:rPr>
              <a:t>추천/비추천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2468880"/>
            <a:ext cx="26974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70" b="0">
                <a:solidFill>
                  <a:srgbClr val="344054"/>
                </a:solidFill>
                <a:latin typeface="Apple SD Gothic Neo"/>
              </a:rPr>
              <a:t>사용자 의견을 도서 상세에 반영해 단순 정보 조회 이상의 참여 경험을 제공합니다.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49056" y="3401568"/>
            <a:ext cx="2788920" cy="169164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31936" y="3991356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75569"/>
                </a:solidFill>
                <a:latin typeface="Apple SD Gothic Neo"/>
              </a:rPr>
              <a:t>사진 넣어주세요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1936" y="4274820"/>
            <a:ext cx="2423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25849D"/>
                </a:solidFill>
                <a:latin typeface="Apple SD Gothic Neo"/>
              </a:rPr>
              <a:t>추천 기능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7656" y="4654296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도서 상세 추천/비추천 영역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921240" y="-502920"/>
            <a:ext cx="2468880" cy="2468880"/>
          </a:xfrm>
          <a:prstGeom prst="ellipse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530352"/>
            <a:ext cx="64008" cy="585216"/>
          </a:xfrm>
          <a:prstGeom prst="rect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12064"/>
            <a:ext cx="105156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D1426"/>
                </a:solidFill>
                <a:latin typeface="Apple SD Gothic Neo"/>
              </a:rPr>
              <a:t>구현 범위: Web과 iOS 동시 제공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225296"/>
            <a:ext cx="97840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64748B"/>
                </a:solidFill>
                <a:latin typeface="Apple SD Gothic Neo"/>
              </a:rPr>
              <a:t>동일한 핵심 API를 기반으로 웹과 iOS에서 주요 사용자 흐름을 모두 구현했습니다.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8992" y="2084831"/>
            <a:ext cx="713232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A6FE8"/>
                </a:solidFill>
                <a:latin typeface="Apple SD Gothic Neo"/>
              </a:rPr>
              <a:t>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  <a:latin typeface="Apple SD Gothic Neo"/>
              </a:rPr>
              <a:t>Next.js 기반 웹 서비스</a:t>
            </a:r>
          </a:p>
        </p:txBody>
      </p:sp>
      <p:sp>
        <p:nvSpPr>
          <p:cNvPr id="10" name="Oval 9"/>
          <p:cNvSpPr/>
          <p:nvPr/>
        </p:nvSpPr>
        <p:spPr>
          <a:xfrm>
            <a:off x="1078992" y="3145536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3127248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40" b="0">
                <a:solidFill>
                  <a:srgbClr val="344054"/>
                </a:solidFill>
                <a:latin typeface="Apple SD Gothic Neo"/>
              </a:rPr>
              <a:t>위치/주소 기반 도서 검색</a:t>
            </a:r>
          </a:p>
        </p:txBody>
      </p:sp>
      <p:sp>
        <p:nvSpPr>
          <p:cNvPr id="12" name="Oval 11"/>
          <p:cNvSpPr/>
          <p:nvPr/>
        </p:nvSpPr>
        <p:spPr>
          <a:xfrm>
            <a:off x="1078992" y="3566160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3547872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40" b="0">
                <a:solidFill>
                  <a:srgbClr val="344054"/>
                </a:solidFill>
                <a:latin typeface="Apple SD Gothic Neo"/>
              </a:rPr>
              <a:t>거리순 소장 도서관 및 대출 가능 필터</a:t>
            </a:r>
          </a:p>
        </p:txBody>
      </p:sp>
      <p:sp>
        <p:nvSpPr>
          <p:cNvPr id="14" name="Oval 13"/>
          <p:cNvSpPr/>
          <p:nvPr/>
        </p:nvSpPr>
        <p:spPr>
          <a:xfrm>
            <a:off x="1078992" y="3986783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968496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40" b="0">
                <a:solidFill>
                  <a:srgbClr val="344054"/>
                </a:solidFill>
                <a:latin typeface="Apple SD Gothic Neo"/>
              </a:rPr>
              <a:t>도서·도서관 상세, 찜, 알림 모달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1828800"/>
            <a:ext cx="49834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38544" y="2084831"/>
            <a:ext cx="713232" cy="310896"/>
          </a:xfrm>
          <a:prstGeom prst="roundRect">
            <a:avLst/>
          </a:prstGeom>
          <a:solidFill>
            <a:srgbClr val="EDF6FA"/>
          </a:solidFill>
          <a:ln w="12700"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849D"/>
                </a:solidFill>
                <a:latin typeface="Apple SD Gothic Neo"/>
              </a:rPr>
              <a:t>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2542032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  <a:latin typeface="Apple SD Gothic Neo"/>
              </a:rPr>
              <a:t>Swift UIKit 기반 모바일 앱</a:t>
            </a:r>
          </a:p>
        </p:txBody>
      </p:sp>
      <p:sp>
        <p:nvSpPr>
          <p:cNvPr id="19" name="Oval 18"/>
          <p:cNvSpPr/>
          <p:nvPr/>
        </p:nvSpPr>
        <p:spPr>
          <a:xfrm>
            <a:off x="6638544" y="3145536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127248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40" b="0">
                <a:solidFill>
                  <a:srgbClr val="344054"/>
                </a:solidFill>
                <a:latin typeface="Apple SD Gothic Neo"/>
              </a:rPr>
              <a:t>홈/검색/상세/찜/알림 화면 구현</a:t>
            </a:r>
          </a:p>
        </p:txBody>
      </p:sp>
      <p:sp>
        <p:nvSpPr>
          <p:cNvPr id="21" name="Oval 20"/>
          <p:cNvSpPr/>
          <p:nvPr/>
        </p:nvSpPr>
        <p:spPr>
          <a:xfrm>
            <a:off x="6638544" y="3566160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547872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40" b="0">
                <a:solidFill>
                  <a:srgbClr val="344054"/>
                </a:solidFill>
                <a:latin typeface="Apple SD Gothic Neo"/>
              </a:rPr>
              <a:t>도서관 카드의 찜·알림 액션 제공</a:t>
            </a:r>
          </a:p>
        </p:txBody>
      </p:sp>
      <p:sp>
        <p:nvSpPr>
          <p:cNvPr id="23" name="Oval 22"/>
          <p:cNvSpPr/>
          <p:nvPr/>
        </p:nvSpPr>
        <p:spPr>
          <a:xfrm>
            <a:off x="6638544" y="3986783"/>
            <a:ext cx="210312" cy="210312"/>
          </a:xfrm>
          <a:prstGeom prst="ellipse">
            <a:avLst/>
          </a:prstGeom>
          <a:solidFill>
            <a:srgbClr val="4FB2CB"/>
          </a:solidFill>
          <a:ln>
            <a:solidFill>
              <a:srgbClr val="4FB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968496"/>
            <a:ext cx="4251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40" b="0">
                <a:solidFill>
                  <a:srgbClr val="344054"/>
                </a:solidFill>
                <a:latin typeface="Apple SD Gothic Neo"/>
              </a:rPr>
              <a:t>카카오 로그인 및 푸시 알림 연동 구조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623560"/>
            <a:ext cx="10195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ple SD Gothic Neo"/>
              </a:rPr>
              <a:t>백엔드 API: /books/search, /book-availability, /libraries/nearby, /notifications, /bookmark 계열 엔드포인트 연동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</Words>
  <Application>Microsoft Macintosh PowerPoint</Application>
  <PresentationFormat>와이드스크린</PresentationFormat>
  <Paragraphs>81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Noto Sans KR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류태현</cp:lastModifiedBy>
  <cp:revision>1</cp:revision>
  <dcterms:modified xsi:type="dcterms:W3CDTF">2026-05-16T08:06:06Z</dcterms:modified>
  <dc:title>위치 기반 공공도서관 소장 도서 검색 서비스 제안 - 5분 발표용</dc:title>
  <dc:subject>Polaris / PolarStar Web-iOS 발표자료 개선본</dc:subject>
  <dc:creator>Codex</dc:creator>
</cp:coreProperties>
</file>